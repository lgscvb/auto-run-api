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PT Sans Caption"/>
          <a:ea typeface="PT Sans Caption"/>
          <a:cs typeface="PT Sans Captio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PT Sans Caption"/>
          <a:ea typeface="PT Sans Caption"/>
          <a:cs typeface="PT Sans Caption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T Sans Caption"/>
          <a:ea typeface="PT Sans Caption"/>
          <a:cs typeface="PT Sans Captio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PT Sans Caption"/>
          <a:ea typeface="PT Sans Caption"/>
          <a:cs typeface="PT Sans Caption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PT Sans Caption"/>
          <a:ea typeface="PT Sans Caption"/>
          <a:cs typeface="PT Sans Captio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T Sans Caption"/>
          <a:ea typeface="PT Sans Caption"/>
          <a:cs typeface="PT Sans Caption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T Sans Caption"/>
          <a:ea typeface="PT Sans Caption"/>
          <a:cs typeface="PT Sans Caption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T Sans Caption"/>
          <a:ea typeface="PT Sans Caption"/>
          <a:cs typeface="PT Sans Captio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>
        <p:scale>
          <a:sx n="83" d="100"/>
          <a:sy n="83" d="100"/>
        </p:scale>
        <p:origin x="139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大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8657488"/>
            <a:ext cx="11607801" cy="461060"/>
          </a:xfrm>
          <a:prstGeom prst="rect">
            <a:avLst/>
          </a:prstGeom>
        </p:spPr>
        <p:txBody>
          <a:bodyPr anchor="b"/>
          <a:lstStyle>
            <a:lvl1pPr marL="0" indent="0" defTabSz="493098">
              <a:lnSpc>
                <a:spcPct val="100000"/>
              </a:lnSpc>
              <a:buSzTx/>
              <a:buNone/>
              <a:defRPr sz="2016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作者和日期</a:t>
            </a:r>
          </a:p>
        </p:txBody>
      </p:sp>
      <p:sp>
        <p:nvSpPr>
          <p:cNvPr id="12" name="簡報標題"/>
          <p:cNvSpPr txBox="1">
            <a:spLocks noGrp="1"/>
          </p:cNvSpPr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r>
              <a:t>簡報標題</a:t>
            </a:r>
          </a:p>
        </p:txBody>
      </p:sp>
      <p:sp>
        <p:nvSpPr>
          <p:cNvPr id="13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buSzTx/>
              <a:buNone/>
              <a:defRPr sz="3800" b="1">
                <a:latin typeface="+mn-lt"/>
                <a:ea typeface="+mn-ea"/>
                <a:cs typeface="+mn-cs"/>
                <a:sym typeface="Helvetica Neue"/>
              </a:defRPr>
            </a:lvl1pPr>
            <a:lvl2pPr marL="0" indent="457200" defTabSz="587022">
              <a:lnSpc>
                <a:spcPct val="100000"/>
              </a:lnSpc>
              <a:buSzTx/>
              <a:buNone/>
              <a:defRPr sz="3800" b="1">
                <a:latin typeface="+mn-lt"/>
                <a:ea typeface="+mn-ea"/>
                <a:cs typeface="+mn-cs"/>
                <a:sym typeface="Helvetica Neue"/>
              </a:defRPr>
            </a:lvl2pPr>
            <a:lvl3pPr marL="0" indent="914400" defTabSz="587022">
              <a:lnSpc>
                <a:spcPct val="100000"/>
              </a:lnSpc>
              <a:buSzTx/>
              <a:buNone/>
              <a:defRPr sz="3800" b="1">
                <a:latin typeface="+mn-lt"/>
                <a:ea typeface="+mn-ea"/>
                <a:cs typeface="+mn-cs"/>
                <a:sym typeface="Helvetica Neue"/>
              </a:defRPr>
            </a:lvl3pPr>
            <a:lvl4pPr marL="0" indent="1371600" defTabSz="587022">
              <a:lnSpc>
                <a:spcPct val="100000"/>
              </a:lnSpc>
              <a:buSzTx/>
              <a:buNone/>
              <a:defRPr sz="3800" b="1">
                <a:latin typeface="+mn-lt"/>
                <a:ea typeface="+mn-ea"/>
                <a:cs typeface="+mn-cs"/>
                <a:sym typeface="Helvetica Neue"/>
              </a:defRPr>
            </a:lvl4pPr>
            <a:lvl5pPr marL="0" indent="1828800" defTabSz="587022">
              <a:lnSpc>
                <a:spcPct val="100000"/>
              </a:lnSpc>
              <a:buSzTx/>
              <a:buNone/>
              <a:defRPr sz="3800" b="1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簡報子標題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酪梨與萊姆"/>
          <p:cNvSpPr>
            <a:spLocks noGrp="1"/>
          </p:cNvSpPr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簡報標題"/>
          <p:cNvSpPr txBox="1">
            <a:spLocks noGrp="1"/>
          </p:cNvSpPr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r>
              <a:t>簡報標題</a:t>
            </a:r>
          </a:p>
        </p:txBody>
      </p:sp>
      <p:sp>
        <p:nvSpPr>
          <p:cNvPr id="23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buSzTx/>
              <a:buNone/>
              <a:defRPr sz="3800" b="1">
                <a:latin typeface="+mn-lt"/>
                <a:ea typeface="+mn-ea"/>
                <a:cs typeface="+mn-cs"/>
                <a:sym typeface="Helvetica Neue"/>
              </a:defRPr>
            </a:lvl1pPr>
            <a:lvl2pPr marL="0" indent="457200" defTabSz="587022">
              <a:lnSpc>
                <a:spcPct val="100000"/>
              </a:lnSpc>
              <a:buSzTx/>
              <a:buNone/>
              <a:defRPr sz="3800" b="1">
                <a:latin typeface="+mn-lt"/>
                <a:ea typeface="+mn-ea"/>
                <a:cs typeface="+mn-cs"/>
                <a:sym typeface="Helvetica Neue"/>
              </a:defRPr>
            </a:lvl2pPr>
            <a:lvl3pPr marL="0" indent="914400" defTabSz="587022">
              <a:lnSpc>
                <a:spcPct val="100000"/>
              </a:lnSpc>
              <a:buSzTx/>
              <a:buNone/>
              <a:defRPr sz="3800" b="1">
                <a:latin typeface="+mn-lt"/>
                <a:ea typeface="+mn-ea"/>
                <a:cs typeface="+mn-cs"/>
                <a:sym typeface="Helvetica Neue"/>
              </a:defRPr>
            </a:lvl3pPr>
            <a:lvl4pPr marL="0" indent="1371600" defTabSz="587022">
              <a:lnSpc>
                <a:spcPct val="100000"/>
              </a:lnSpc>
              <a:buSzTx/>
              <a:buNone/>
              <a:defRPr sz="3800" b="1">
                <a:latin typeface="+mn-lt"/>
                <a:ea typeface="+mn-ea"/>
                <a:cs typeface="+mn-cs"/>
                <a:sym typeface="Helvetica Neue"/>
              </a:defRPr>
            </a:lvl4pPr>
            <a:lvl5pPr marL="0" indent="1828800" defTabSz="587022">
              <a:lnSpc>
                <a:spcPct val="100000"/>
              </a:lnSpc>
              <a:buSzTx/>
              <a:buNone/>
              <a:defRPr sz="3800" b="1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簡報子標題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作者和日期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493098">
              <a:lnSpc>
                <a:spcPct val="100000"/>
              </a:lnSpc>
              <a:buSzTx/>
              <a:buNone/>
              <a:defRPr sz="2016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作者和日期</a:t>
            </a:r>
          </a:p>
        </p:txBody>
      </p:sp>
      <p:sp>
        <p:nvSpPr>
          <p:cNvPr id="25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替用照片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鮭魚餅、沙拉和鷹嘴豆泥 "/>
          <p:cNvSpPr>
            <a:spLocks noGrp="1"/>
          </p:cNvSpPr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buSzTx/>
              <a:buNone/>
              <a:defRPr sz="3800" b="1">
                <a:latin typeface="+mn-lt"/>
                <a:ea typeface="+mn-ea"/>
                <a:cs typeface="+mn-cs"/>
                <a:sym typeface="Helvetica Neue"/>
              </a:defRPr>
            </a:lvl1pPr>
            <a:lvl2pPr marL="0" indent="457200" defTabSz="587022">
              <a:lnSpc>
                <a:spcPct val="100000"/>
              </a:lnSpc>
              <a:buSzTx/>
              <a:buNone/>
              <a:defRPr sz="3800" b="1">
                <a:latin typeface="+mn-lt"/>
                <a:ea typeface="+mn-ea"/>
                <a:cs typeface="+mn-cs"/>
                <a:sym typeface="Helvetica Neue"/>
              </a:defRPr>
            </a:lvl2pPr>
            <a:lvl3pPr marL="0" indent="914400" defTabSz="587022">
              <a:lnSpc>
                <a:spcPct val="100000"/>
              </a:lnSpc>
              <a:buSzTx/>
              <a:buNone/>
              <a:defRPr sz="3800" b="1">
                <a:latin typeface="+mn-lt"/>
                <a:ea typeface="+mn-ea"/>
                <a:cs typeface="+mn-cs"/>
                <a:sym typeface="Helvetica Neue"/>
              </a:defRPr>
            </a:lvl3pPr>
            <a:lvl4pPr marL="0" indent="1371600" defTabSz="587022">
              <a:lnSpc>
                <a:spcPct val="100000"/>
              </a:lnSpc>
              <a:buSzTx/>
              <a:buNone/>
              <a:defRPr sz="3800" b="1">
                <a:latin typeface="+mn-lt"/>
                <a:ea typeface="+mn-ea"/>
                <a:cs typeface="+mn-cs"/>
                <a:sym typeface="Helvetica Neue"/>
              </a:defRPr>
            </a:lvl4pPr>
            <a:lvl5pPr marL="0" indent="1828800" defTabSz="587022">
              <a:lnSpc>
                <a:spcPct val="100000"/>
              </a:lnSpc>
              <a:buSzTx/>
              <a:buNone/>
              <a:defRPr sz="3800" b="1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幻燈片子標題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r>
              <a:t>幻燈片標題</a:t>
            </a:r>
          </a:p>
        </p:txBody>
      </p:sp>
      <p:sp>
        <p:nvSpPr>
          <p:cNvPr id="3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內文層級一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3" name="幻燈片子標題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498968">
              <a:lnSpc>
                <a:spcPct val="100000"/>
              </a:lnSpc>
              <a:buSzTx/>
              <a:buNone/>
              <a:defRPr sz="323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幻燈片子標題</a:t>
            </a:r>
          </a:p>
        </p:txBody>
      </p:sp>
      <p:sp>
        <p:nvSpPr>
          <p:cNvPr id="44" name="幻燈片標題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幻燈片標題</a:t>
            </a:r>
          </a:p>
        </p:txBody>
      </p:sp>
      <p:sp>
        <p:nvSpPr>
          <p:cNvPr id="4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內文層級一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、項目符號與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一碗搭配洋香菜奶油、烤榛子和刨絲帕瑪森起司的特寬麵"/>
          <p:cNvSpPr>
            <a:spLocks noGrp="1"/>
          </p:cNvSpPr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幻燈片標題</a:t>
            </a:r>
          </a:p>
        </p:txBody>
      </p:sp>
      <p:sp>
        <p:nvSpPr>
          <p:cNvPr id="62" name="幻燈片子標題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498968">
              <a:lnSpc>
                <a:spcPct val="100000"/>
              </a:lnSpc>
              <a:buSzTx/>
              <a:buNone/>
              <a:defRPr sz="323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幻燈片子標題</a:t>
            </a:r>
          </a:p>
        </p:txBody>
      </p:sp>
      <p:sp>
        <p:nvSpPr>
          <p:cNvPr id="63" name="內文層級一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章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章節標題"/>
          <p:cNvSpPr txBox="1">
            <a:spLocks noGrp="1"/>
          </p:cNvSpPr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sz="8200" b="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章節標題</a:t>
            </a:r>
          </a:p>
        </p:txBody>
      </p:sp>
      <p:sp>
        <p:nvSpPr>
          <p:cNvPr id="7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大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幻燈片標題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幻燈片標題</a:t>
            </a:r>
          </a:p>
        </p:txBody>
      </p:sp>
      <p:sp>
        <p:nvSpPr>
          <p:cNvPr id="80" name="幻燈片子標題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498968">
              <a:lnSpc>
                <a:spcPct val="100000"/>
              </a:lnSpc>
              <a:buSzTx/>
              <a:buNone/>
              <a:defRPr sz="323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幻燈片子標題</a:t>
            </a:r>
          </a:p>
        </p:txBody>
      </p:sp>
      <p:sp>
        <p:nvSpPr>
          <p:cNvPr id="8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議程標題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r>
              <a:t>議程標題</a:t>
            </a:r>
          </a:p>
        </p:txBody>
      </p:sp>
      <p:sp>
        <p:nvSpPr>
          <p:cNvPr id="89" name="議程副標題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498968">
              <a:lnSpc>
                <a:spcPct val="100000"/>
              </a:lnSpc>
              <a:buSzTx/>
              <a:buNone/>
              <a:defRPr sz="323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議程副標題</a:t>
            </a:r>
          </a:p>
        </p:txBody>
      </p:sp>
      <p:sp>
        <p:nvSpPr>
          <p:cNvPr id="90" name="內文層級一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1733930">
              <a:lnSpc>
                <a:spcPct val="90000"/>
              </a:lnSpc>
              <a:spcBef>
                <a:spcPts val="1300"/>
              </a:spcBef>
              <a:buSzTx/>
              <a:buNone/>
              <a:defRPr sz="3800" spc="-38">
                <a:latin typeface="+mn-lt"/>
                <a:ea typeface="+mn-ea"/>
                <a:cs typeface="+mn-cs"/>
                <a:sym typeface="Helvetica Neue"/>
              </a:defRPr>
            </a:lvl1pPr>
            <a:lvl2pPr marL="0" indent="457200" defTabSz="1733930">
              <a:lnSpc>
                <a:spcPct val="90000"/>
              </a:lnSpc>
              <a:spcBef>
                <a:spcPts val="1300"/>
              </a:spcBef>
              <a:buSzTx/>
              <a:buNone/>
              <a:defRPr sz="3800" spc="-38">
                <a:latin typeface="+mn-lt"/>
                <a:ea typeface="+mn-ea"/>
                <a:cs typeface="+mn-cs"/>
                <a:sym typeface="Helvetica Neue"/>
              </a:defRPr>
            </a:lvl2pPr>
            <a:lvl3pPr marL="0" indent="914400" defTabSz="1733930">
              <a:lnSpc>
                <a:spcPct val="90000"/>
              </a:lnSpc>
              <a:spcBef>
                <a:spcPts val="1300"/>
              </a:spcBef>
              <a:buSzTx/>
              <a:buNone/>
              <a:defRPr sz="3800" spc="-38">
                <a:latin typeface="+mn-lt"/>
                <a:ea typeface="+mn-ea"/>
                <a:cs typeface="+mn-cs"/>
                <a:sym typeface="Helvetica Neue"/>
              </a:defRPr>
            </a:lvl3pPr>
            <a:lvl4pPr marL="0" indent="1371600" defTabSz="1733930">
              <a:lnSpc>
                <a:spcPct val="90000"/>
              </a:lnSpc>
              <a:spcBef>
                <a:spcPts val="1300"/>
              </a:spcBef>
              <a:buSzTx/>
              <a:buNone/>
              <a:defRPr sz="3800" spc="-38">
                <a:latin typeface="+mn-lt"/>
                <a:ea typeface="+mn-ea"/>
                <a:cs typeface="+mn-cs"/>
                <a:sym typeface="Helvetica Neue"/>
              </a:defRPr>
            </a:lvl4pPr>
            <a:lvl5pPr marL="0" indent="1828800" defTabSz="1733930">
              <a:lnSpc>
                <a:spcPct val="90000"/>
              </a:lnSpc>
              <a:spcBef>
                <a:spcPts val="1300"/>
              </a:spcBef>
              <a:buSzTx/>
              <a:buNone/>
              <a:defRPr sz="3800" spc="-38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議程主題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聲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內文層級一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 defTabSz="1733930">
              <a:lnSpc>
                <a:spcPct val="80000"/>
              </a:lnSpc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 defTabSz="1733930">
              <a:lnSpc>
                <a:spcPct val="80000"/>
              </a:lnSpc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 defTabSz="1733930">
              <a:lnSpc>
                <a:spcPct val="80000"/>
              </a:lnSpc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 defTabSz="1733930">
              <a:lnSpc>
                <a:spcPct val="80000"/>
              </a:lnSpc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 defTabSz="1733930">
              <a:lnSpc>
                <a:spcPct val="80000"/>
              </a:lnSpc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聲明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重要事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詳細資訊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 defTabSz="1473840">
              <a:lnSpc>
                <a:spcPct val="100000"/>
              </a:lnSpc>
              <a:buSzTx/>
              <a:buNone/>
              <a:defRPr sz="323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詳細資訊</a:t>
            </a:r>
          </a:p>
        </p:txBody>
      </p:sp>
      <p:sp>
        <p:nvSpPr>
          <p:cNvPr id="107" name="內文層級一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 defTabSz="1733930">
              <a:lnSpc>
                <a:spcPct val="80000"/>
              </a:lnSpc>
              <a:buSzTx/>
              <a:buNone/>
              <a:defRPr sz="17600" b="1" spc="-176">
                <a:latin typeface="+mn-lt"/>
                <a:ea typeface="+mn-ea"/>
                <a:cs typeface="+mn-cs"/>
                <a:sym typeface="Helvetica Neue"/>
              </a:defRPr>
            </a:lvl1pPr>
            <a:lvl2pPr marL="0" indent="457200" algn="ctr" defTabSz="1733930">
              <a:lnSpc>
                <a:spcPct val="80000"/>
              </a:lnSpc>
              <a:buSzTx/>
              <a:buNone/>
              <a:defRPr sz="17600" b="1" spc="-176">
                <a:latin typeface="+mn-lt"/>
                <a:ea typeface="+mn-ea"/>
                <a:cs typeface="+mn-cs"/>
                <a:sym typeface="Helvetica Neue"/>
              </a:defRPr>
            </a:lvl2pPr>
            <a:lvl3pPr marL="0" indent="914400" algn="ctr" defTabSz="1733930">
              <a:lnSpc>
                <a:spcPct val="80000"/>
              </a:lnSpc>
              <a:buSzTx/>
              <a:buNone/>
              <a:defRPr sz="17600" b="1" spc="-176">
                <a:latin typeface="+mn-lt"/>
                <a:ea typeface="+mn-ea"/>
                <a:cs typeface="+mn-cs"/>
                <a:sym typeface="Helvetica Neue"/>
              </a:defRPr>
            </a:lvl3pPr>
            <a:lvl4pPr marL="0" indent="1371600" algn="ctr" defTabSz="1733930">
              <a:lnSpc>
                <a:spcPct val="80000"/>
              </a:lnSpc>
              <a:buSzTx/>
              <a:buNone/>
              <a:defRPr sz="17600" b="1" spc="-176">
                <a:latin typeface="+mn-lt"/>
                <a:ea typeface="+mn-ea"/>
                <a:cs typeface="+mn-cs"/>
                <a:sym typeface="Helvetica Neue"/>
              </a:defRPr>
            </a:lvl4pPr>
            <a:lvl5pPr marL="0" indent="1828800" algn="ctr" defTabSz="1733930">
              <a:lnSpc>
                <a:spcPct val="80000"/>
              </a:lnSpc>
              <a:buSzTx/>
              <a:buNone/>
              <a:defRPr sz="17600" b="1" spc="-176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8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名言語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內文層級一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 defTabSz="1733930">
              <a:lnSpc>
                <a:spcPct val="90000"/>
              </a:lnSpc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indent="114300" defTabSz="1733930">
              <a:lnSpc>
                <a:spcPct val="90000"/>
              </a:lnSpc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 defTabSz="1733930">
              <a:lnSpc>
                <a:spcPct val="90000"/>
              </a:lnSpc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 defTabSz="1733930">
              <a:lnSpc>
                <a:spcPct val="90000"/>
              </a:lnSpc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 defTabSz="1733930">
              <a:lnSpc>
                <a:spcPct val="90000"/>
              </a:lnSpc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「著名的引言」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6" name="出處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493098">
              <a:lnSpc>
                <a:spcPct val="100000"/>
              </a:lnSpc>
              <a:buSzTx/>
              <a:buNone/>
              <a:defRPr sz="2016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出處</a:t>
            </a:r>
          </a:p>
        </p:txBody>
      </p:sp>
      <p:sp>
        <p:nvSpPr>
          <p:cNvPr id="117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一頁三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一碗搭配洋香菜奶油、烤榛子和刨絲帕瑪森起司的特寬麵"/>
          <p:cNvSpPr>
            <a:spLocks noGrp="1"/>
          </p:cNvSpPr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一碗沙拉搭配炒飯、水煮蛋和筷子"/>
          <p:cNvSpPr>
            <a:spLocks noGrp="1"/>
          </p:cNvSpPr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一碗鮭魚餅、沙拉和鷹嘴豆泥"/>
          <p:cNvSpPr>
            <a:spLocks noGrp="1"/>
          </p:cNvSpPr>
          <p:nvPr>
            <p:ph type="pic" idx="23"/>
          </p:nvPr>
        </p:nvSpPr>
        <p:spPr>
          <a:xfrm>
            <a:off x="4984750" y="2749413"/>
            <a:ext cx="7937500" cy="92382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一碗沙拉搭配炒飯、水煮蛋和筷子"/>
          <p:cNvSpPr>
            <a:spLocks noGrp="1"/>
          </p:cNvSpPr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文層級一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幻燈片標題</a:t>
            </a:r>
          </a:p>
        </p:txBody>
      </p:sp>
      <p:sp>
        <p:nvSpPr>
          <p:cNvPr id="4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3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76200" marR="0" indent="-76200" algn="l" defTabSz="457200" rtl="0" latinLnBrk="0">
        <a:lnSpc>
          <a:spcPts val="8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600" b="0" i="0" u="none" strike="noStrike" cap="none" spc="0" baseline="0">
          <a:solidFill>
            <a:srgbClr val="000000"/>
          </a:solidFill>
          <a:uFillTx/>
          <a:latin typeface="PT Sans Caption"/>
          <a:ea typeface="PT Sans Caption"/>
          <a:cs typeface="PT Sans Caption"/>
          <a:sym typeface="PT Sans Caption"/>
        </a:defRPr>
      </a:lvl1pPr>
      <a:lvl2pPr marL="457200" marR="0" indent="-76200" algn="l" defTabSz="457200" rtl="0" latinLnBrk="0">
        <a:lnSpc>
          <a:spcPts val="8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600" b="0" i="0" u="none" strike="noStrike" cap="none" spc="0" baseline="0">
          <a:solidFill>
            <a:srgbClr val="000000"/>
          </a:solidFill>
          <a:uFillTx/>
          <a:latin typeface="PT Sans Caption"/>
          <a:ea typeface="PT Sans Caption"/>
          <a:cs typeface="PT Sans Caption"/>
          <a:sym typeface="PT Sans Caption"/>
        </a:defRPr>
      </a:lvl2pPr>
      <a:lvl3pPr marL="838200" marR="0" indent="-76200" algn="l" defTabSz="457200" rtl="0" latinLnBrk="0">
        <a:lnSpc>
          <a:spcPts val="8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600" b="0" i="0" u="none" strike="noStrike" cap="none" spc="0" baseline="0">
          <a:solidFill>
            <a:srgbClr val="000000"/>
          </a:solidFill>
          <a:uFillTx/>
          <a:latin typeface="PT Sans Caption"/>
          <a:ea typeface="PT Sans Caption"/>
          <a:cs typeface="PT Sans Caption"/>
          <a:sym typeface="PT Sans Caption"/>
        </a:defRPr>
      </a:lvl3pPr>
      <a:lvl4pPr marL="1219200" marR="0" indent="-76200" algn="l" defTabSz="457200" rtl="0" latinLnBrk="0">
        <a:lnSpc>
          <a:spcPts val="8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600" b="0" i="0" u="none" strike="noStrike" cap="none" spc="0" baseline="0">
          <a:solidFill>
            <a:srgbClr val="000000"/>
          </a:solidFill>
          <a:uFillTx/>
          <a:latin typeface="PT Sans Caption"/>
          <a:ea typeface="PT Sans Caption"/>
          <a:cs typeface="PT Sans Caption"/>
          <a:sym typeface="PT Sans Caption"/>
        </a:defRPr>
      </a:lvl4pPr>
      <a:lvl5pPr marL="1600200" marR="0" indent="-76200" algn="l" defTabSz="457200" rtl="0" latinLnBrk="0">
        <a:lnSpc>
          <a:spcPts val="8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600" b="0" i="0" u="none" strike="noStrike" cap="none" spc="0" baseline="0">
          <a:solidFill>
            <a:srgbClr val="000000"/>
          </a:solidFill>
          <a:uFillTx/>
          <a:latin typeface="PT Sans Caption"/>
          <a:ea typeface="PT Sans Caption"/>
          <a:cs typeface="PT Sans Caption"/>
          <a:sym typeface="PT Sans Caption"/>
        </a:defRPr>
      </a:lvl5pPr>
      <a:lvl6pPr marL="1981200" marR="0" indent="-76200" algn="l" defTabSz="457200" rtl="0" latinLnBrk="0">
        <a:lnSpc>
          <a:spcPts val="8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600" b="0" i="0" u="none" strike="noStrike" cap="none" spc="0" baseline="0">
          <a:solidFill>
            <a:srgbClr val="000000"/>
          </a:solidFill>
          <a:uFillTx/>
          <a:latin typeface="PT Sans Caption"/>
          <a:ea typeface="PT Sans Caption"/>
          <a:cs typeface="PT Sans Caption"/>
          <a:sym typeface="PT Sans Caption"/>
        </a:defRPr>
      </a:lvl6pPr>
      <a:lvl7pPr marL="2362200" marR="0" indent="-76200" algn="l" defTabSz="457200" rtl="0" latinLnBrk="0">
        <a:lnSpc>
          <a:spcPts val="8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600" b="0" i="0" u="none" strike="noStrike" cap="none" spc="0" baseline="0">
          <a:solidFill>
            <a:srgbClr val="000000"/>
          </a:solidFill>
          <a:uFillTx/>
          <a:latin typeface="PT Sans Caption"/>
          <a:ea typeface="PT Sans Caption"/>
          <a:cs typeface="PT Sans Caption"/>
          <a:sym typeface="PT Sans Caption"/>
        </a:defRPr>
      </a:lvl7pPr>
      <a:lvl8pPr marL="2743200" marR="0" indent="-76200" algn="l" defTabSz="457200" rtl="0" latinLnBrk="0">
        <a:lnSpc>
          <a:spcPts val="8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600" b="0" i="0" u="none" strike="noStrike" cap="none" spc="0" baseline="0">
          <a:solidFill>
            <a:srgbClr val="000000"/>
          </a:solidFill>
          <a:uFillTx/>
          <a:latin typeface="PT Sans Caption"/>
          <a:ea typeface="PT Sans Caption"/>
          <a:cs typeface="PT Sans Caption"/>
          <a:sym typeface="PT Sans Caption"/>
        </a:defRPr>
      </a:lvl8pPr>
      <a:lvl9pPr marL="3124200" marR="0" indent="-76200" algn="l" defTabSz="457200" rtl="0" latinLnBrk="0">
        <a:lnSpc>
          <a:spcPts val="8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600" b="0" i="0" u="none" strike="noStrike" cap="none" spc="0" baseline="0">
          <a:solidFill>
            <a:srgbClr val="000000"/>
          </a:solidFill>
          <a:uFillTx/>
          <a:latin typeface="PT Sans Caption"/>
          <a:ea typeface="PT Sans Caption"/>
          <a:cs typeface="PT Sans Caption"/>
          <a:sym typeface="PT Sans Caption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wincn.com/Lq.aspx?q=%e9%99%b3%e4%bf%8a%e5%90%89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大忠南街coworking國稅局.png" descr="大忠南街coworking國稅局.png"/>
          <p:cNvPicPr>
            <a:picLocks noChangeAspect="1"/>
          </p:cNvPicPr>
          <p:nvPr/>
        </p:nvPicPr>
        <p:blipFill>
          <a:blip r:embed="rId2"/>
          <a:srcRect l="41782"/>
          <a:stretch>
            <a:fillRect/>
          </a:stretch>
        </p:blipFill>
        <p:spPr>
          <a:xfrm>
            <a:off x="-81458" y="90111"/>
            <a:ext cx="8124904" cy="9139381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1廖氏商行"/>
          <p:cNvSpPr txBox="1"/>
          <p:nvPr/>
        </p:nvSpPr>
        <p:spPr>
          <a:xfrm>
            <a:off x="544311" y="6013885"/>
            <a:ext cx="46146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1廖氏商行</a:t>
            </a:r>
          </a:p>
        </p:txBody>
      </p:sp>
      <p:sp>
        <p:nvSpPr>
          <p:cNvPr id="153" name="2江小咪商行"/>
          <p:cNvSpPr txBox="1"/>
          <p:nvPr/>
        </p:nvSpPr>
        <p:spPr>
          <a:xfrm>
            <a:off x="579808" y="6510310"/>
            <a:ext cx="53766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2江小咪商行</a:t>
            </a:r>
          </a:p>
        </p:txBody>
      </p:sp>
      <p:sp>
        <p:nvSpPr>
          <p:cNvPr id="154" name="3洛酷科技有限公司"/>
          <p:cNvSpPr txBox="1"/>
          <p:nvPr/>
        </p:nvSpPr>
        <p:spPr>
          <a:xfrm>
            <a:off x="465508" y="7000038"/>
            <a:ext cx="76626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3洛酷科技有限公司</a:t>
            </a:r>
          </a:p>
        </p:txBody>
      </p:sp>
      <p:sp>
        <p:nvSpPr>
          <p:cNvPr id="155" name="4鑫秝喨國際有限公司"/>
          <p:cNvSpPr txBox="1"/>
          <p:nvPr/>
        </p:nvSpPr>
        <p:spPr>
          <a:xfrm>
            <a:off x="427408" y="7606984"/>
            <a:ext cx="84246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4鑫秝喨國際有限公司</a:t>
            </a:r>
          </a:p>
        </p:txBody>
      </p:sp>
      <p:sp>
        <p:nvSpPr>
          <p:cNvPr id="156" name="5一貝兒美容工作室"/>
          <p:cNvSpPr txBox="1"/>
          <p:nvPr/>
        </p:nvSpPr>
        <p:spPr>
          <a:xfrm>
            <a:off x="1345704" y="6069335"/>
            <a:ext cx="76626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5一貝兒美容工作室</a:t>
            </a:r>
          </a:p>
        </p:txBody>
      </p:sp>
      <p:sp>
        <p:nvSpPr>
          <p:cNvPr id="157" name="6吉爾哈登工作室"/>
          <p:cNvSpPr txBox="1"/>
          <p:nvPr/>
        </p:nvSpPr>
        <p:spPr>
          <a:xfrm>
            <a:off x="1383804" y="6627528"/>
            <a:ext cx="69006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6吉爾哈登工作室</a:t>
            </a:r>
          </a:p>
        </p:txBody>
      </p:sp>
      <p:sp>
        <p:nvSpPr>
          <p:cNvPr id="158" name="7緁作工作室"/>
          <p:cNvSpPr txBox="1"/>
          <p:nvPr/>
        </p:nvSpPr>
        <p:spPr>
          <a:xfrm>
            <a:off x="1460004" y="7117256"/>
            <a:ext cx="53766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7緁作工作室</a:t>
            </a:r>
          </a:p>
        </p:txBody>
      </p:sp>
      <p:sp>
        <p:nvSpPr>
          <p:cNvPr id="159" name="8流星有限公司"/>
          <p:cNvSpPr txBox="1"/>
          <p:nvPr/>
        </p:nvSpPr>
        <p:spPr>
          <a:xfrm>
            <a:off x="1508226" y="7606984"/>
            <a:ext cx="61386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8流星有限公司</a:t>
            </a:r>
          </a:p>
        </p:txBody>
      </p:sp>
      <p:sp>
        <p:nvSpPr>
          <p:cNvPr id="160" name="9晨甯水產行"/>
          <p:cNvSpPr txBox="1"/>
          <p:nvPr/>
        </p:nvSpPr>
        <p:spPr>
          <a:xfrm>
            <a:off x="2296797" y="6069335"/>
            <a:ext cx="53766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9晨甯水產行</a:t>
            </a:r>
          </a:p>
        </p:txBody>
      </p:sp>
      <p:sp>
        <p:nvSpPr>
          <p:cNvPr id="161" name="10子昇有限公司"/>
          <p:cNvSpPr txBox="1"/>
          <p:nvPr/>
        </p:nvSpPr>
        <p:spPr>
          <a:xfrm>
            <a:off x="2146034" y="6725156"/>
            <a:ext cx="6562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10子昇有限公司</a:t>
            </a:r>
          </a:p>
        </p:txBody>
      </p:sp>
      <p:sp>
        <p:nvSpPr>
          <p:cNvPr id="162" name="11優翼科技工程有限公司"/>
          <p:cNvSpPr txBox="1"/>
          <p:nvPr/>
        </p:nvSpPr>
        <p:spPr>
          <a:xfrm>
            <a:off x="1907313" y="7108335"/>
            <a:ext cx="9610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11優翼科技工程有限公司</a:t>
            </a:r>
          </a:p>
        </p:txBody>
      </p:sp>
      <p:sp>
        <p:nvSpPr>
          <p:cNvPr id="163" name="12季節東京媄睫專業坊"/>
          <p:cNvSpPr txBox="1"/>
          <p:nvPr/>
        </p:nvSpPr>
        <p:spPr>
          <a:xfrm>
            <a:off x="1945413" y="7742120"/>
            <a:ext cx="8848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12季節東京媄睫專業坊</a:t>
            </a:r>
          </a:p>
        </p:txBody>
      </p:sp>
      <p:sp>
        <p:nvSpPr>
          <p:cNvPr id="164" name="13楊董企業社"/>
          <p:cNvSpPr txBox="1"/>
          <p:nvPr/>
        </p:nvSpPr>
        <p:spPr>
          <a:xfrm>
            <a:off x="2778041" y="6220742"/>
            <a:ext cx="5800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13楊董企業社</a:t>
            </a:r>
          </a:p>
        </p:txBody>
      </p:sp>
      <p:sp>
        <p:nvSpPr>
          <p:cNvPr id="165" name="14程晧事業有限公司"/>
          <p:cNvSpPr txBox="1"/>
          <p:nvPr/>
        </p:nvSpPr>
        <p:spPr>
          <a:xfrm>
            <a:off x="2653149" y="6544736"/>
            <a:ext cx="82981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14程晧事業有限公司 </a:t>
            </a:r>
          </a:p>
        </p:txBody>
      </p:sp>
      <p:sp>
        <p:nvSpPr>
          <p:cNvPr id="166" name="15昇瑪商行"/>
          <p:cNvSpPr txBox="1"/>
          <p:nvPr/>
        </p:nvSpPr>
        <p:spPr>
          <a:xfrm>
            <a:off x="2816141" y="7229570"/>
            <a:ext cx="5038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15昇瑪商行</a:t>
            </a:r>
          </a:p>
        </p:txBody>
      </p:sp>
      <p:sp>
        <p:nvSpPr>
          <p:cNvPr id="167" name="16機車俠機車行"/>
          <p:cNvSpPr txBox="1"/>
          <p:nvPr/>
        </p:nvSpPr>
        <p:spPr>
          <a:xfrm>
            <a:off x="2739941" y="7863355"/>
            <a:ext cx="6562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16機車俠機車行</a:t>
            </a:r>
          </a:p>
        </p:txBody>
      </p:sp>
      <p:sp>
        <p:nvSpPr>
          <p:cNvPr id="168" name="17兩兩空間製作所有限公司"/>
          <p:cNvSpPr txBox="1"/>
          <p:nvPr/>
        </p:nvSpPr>
        <p:spPr>
          <a:xfrm>
            <a:off x="3294755" y="5848189"/>
            <a:ext cx="1037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17兩兩空間製作所有限公司</a:t>
            </a:r>
          </a:p>
        </p:txBody>
      </p:sp>
      <p:sp>
        <p:nvSpPr>
          <p:cNvPr id="169" name="18辰緻國際股份有限公司"/>
          <p:cNvSpPr txBox="1"/>
          <p:nvPr/>
        </p:nvSpPr>
        <p:spPr>
          <a:xfrm>
            <a:off x="3332855" y="6414517"/>
            <a:ext cx="9610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18辰緻國際股份有限公司</a:t>
            </a:r>
          </a:p>
        </p:txBody>
      </p:sp>
      <p:sp>
        <p:nvSpPr>
          <p:cNvPr id="170" name="19頌芝承工作室"/>
          <p:cNvSpPr txBox="1"/>
          <p:nvPr/>
        </p:nvSpPr>
        <p:spPr>
          <a:xfrm>
            <a:off x="3322682" y="6905728"/>
            <a:ext cx="656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19頌芝承工作室</a:t>
            </a:r>
          </a:p>
        </p:txBody>
      </p:sp>
      <p:sp>
        <p:nvSpPr>
          <p:cNvPr id="171" name="20立湟有限公司"/>
          <p:cNvSpPr txBox="1"/>
          <p:nvPr/>
        </p:nvSpPr>
        <p:spPr>
          <a:xfrm>
            <a:off x="3485255" y="7487542"/>
            <a:ext cx="656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20立湟有限公司</a:t>
            </a:r>
          </a:p>
        </p:txBody>
      </p:sp>
      <p:sp>
        <p:nvSpPr>
          <p:cNvPr id="172" name="21旭營興業有限公司"/>
          <p:cNvSpPr txBox="1"/>
          <p:nvPr/>
        </p:nvSpPr>
        <p:spPr>
          <a:xfrm>
            <a:off x="4167469" y="6069335"/>
            <a:ext cx="8086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21旭營興業有限公司</a:t>
            </a:r>
          </a:p>
        </p:txBody>
      </p:sp>
      <p:sp>
        <p:nvSpPr>
          <p:cNvPr id="173" name="22台灣心零售股份有限公司"/>
          <p:cNvSpPr txBox="1"/>
          <p:nvPr/>
        </p:nvSpPr>
        <p:spPr>
          <a:xfrm>
            <a:off x="3991255" y="6538035"/>
            <a:ext cx="1037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22台灣心零售股份有限公司</a:t>
            </a:r>
          </a:p>
        </p:txBody>
      </p:sp>
      <p:sp>
        <p:nvSpPr>
          <p:cNvPr id="174" name="23超省購生活用品企業社"/>
          <p:cNvSpPr txBox="1"/>
          <p:nvPr/>
        </p:nvSpPr>
        <p:spPr>
          <a:xfrm>
            <a:off x="4091269" y="6933513"/>
            <a:ext cx="9610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23超省購生活用品企業社</a:t>
            </a:r>
          </a:p>
        </p:txBody>
      </p:sp>
      <p:sp>
        <p:nvSpPr>
          <p:cNvPr id="175" name="24明偉水產行"/>
          <p:cNvSpPr txBox="1"/>
          <p:nvPr/>
        </p:nvSpPr>
        <p:spPr>
          <a:xfrm>
            <a:off x="4281769" y="7606984"/>
            <a:ext cx="5800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24明偉水產行</a:t>
            </a:r>
          </a:p>
        </p:txBody>
      </p:sp>
      <p:sp>
        <p:nvSpPr>
          <p:cNvPr id="176" name="25隱士播放…"/>
          <p:cNvSpPr txBox="1"/>
          <p:nvPr/>
        </p:nvSpPr>
        <p:spPr>
          <a:xfrm>
            <a:off x="104554" y="8463049"/>
            <a:ext cx="503835" cy="306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25隱士播放</a:t>
            </a:r>
          </a:p>
          <a:p>
            <a:r>
              <a:t>清單商店</a:t>
            </a:r>
          </a:p>
        </p:txBody>
      </p:sp>
      <p:sp>
        <p:nvSpPr>
          <p:cNvPr id="177" name="26起床打單有限公司"/>
          <p:cNvSpPr txBox="1"/>
          <p:nvPr/>
        </p:nvSpPr>
        <p:spPr>
          <a:xfrm>
            <a:off x="155789" y="8761908"/>
            <a:ext cx="8086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26起床打單有限公司</a:t>
            </a:r>
          </a:p>
        </p:txBody>
      </p:sp>
      <p:sp>
        <p:nvSpPr>
          <p:cNvPr id="178" name="27恩梯科技…"/>
          <p:cNvSpPr txBox="1"/>
          <p:nvPr/>
        </p:nvSpPr>
        <p:spPr>
          <a:xfrm>
            <a:off x="637893" y="8389805"/>
            <a:ext cx="571501" cy="306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27恩梯科技</a:t>
            </a:r>
          </a:p>
          <a:p>
            <a:r>
              <a:t>股份有限公司</a:t>
            </a:r>
          </a:p>
        </p:txBody>
      </p:sp>
      <p:sp>
        <p:nvSpPr>
          <p:cNvPr id="179" name="28獨自紅有限公司"/>
          <p:cNvSpPr txBox="1"/>
          <p:nvPr/>
        </p:nvSpPr>
        <p:spPr>
          <a:xfrm>
            <a:off x="1023528" y="8717458"/>
            <a:ext cx="73243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28獨自紅有限公司</a:t>
            </a:r>
          </a:p>
        </p:txBody>
      </p:sp>
      <p:sp>
        <p:nvSpPr>
          <p:cNvPr id="180" name="29益群團購顧問有限公司"/>
          <p:cNvSpPr txBox="1"/>
          <p:nvPr/>
        </p:nvSpPr>
        <p:spPr>
          <a:xfrm>
            <a:off x="1248321" y="8451415"/>
            <a:ext cx="9610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29益群團購顧問有限公司</a:t>
            </a:r>
          </a:p>
        </p:txBody>
      </p:sp>
      <p:sp>
        <p:nvSpPr>
          <p:cNvPr id="181" name="30景泰批發實業社"/>
          <p:cNvSpPr txBox="1"/>
          <p:nvPr/>
        </p:nvSpPr>
        <p:spPr>
          <a:xfrm>
            <a:off x="2107934" y="8609769"/>
            <a:ext cx="7324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30景泰批發實業社</a:t>
            </a:r>
          </a:p>
        </p:txBody>
      </p:sp>
      <p:sp>
        <p:nvSpPr>
          <p:cNvPr id="182" name="31泉家鑫企業社"/>
          <p:cNvSpPr txBox="1"/>
          <p:nvPr/>
        </p:nvSpPr>
        <p:spPr>
          <a:xfrm>
            <a:off x="364656" y="2657558"/>
            <a:ext cx="656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31泉家鑫企業社</a:t>
            </a:r>
          </a:p>
        </p:txBody>
      </p:sp>
      <p:sp>
        <p:nvSpPr>
          <p:cNvPr id="183" name="32利奇商行"/>
          <p:cNvSpPr txBox="1"/>
          <p:nvPr/>
        </p:nvSpPr>
        <p:spPr>
          <a:xfrm>
            <a:off x="523127" y="3265862"/>
            <a:ext cx="5038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32利奇商行</a:t>
            </a:r>
          </a:p>
        </p:txBody>
      </p:sp>
      <p:sp>
        <p:nvSpPr>
          <p:cNvPr id="184" name="34萊益國際…"/>
          <p:cNvSpPr txBox="1"/>
          <p:nvPr/>
        </p:nvSpPr>
        <p:spPr>
          <a:xfrm>
            <a:off x="5555346" y="2859277"/>
            <a:ext cx="571501" cy="408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34萊益國際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股份有限公司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台中分公司</a:t>
            </a:r>
          </a:p>
        </p:txBody>
      </p:sp>
      <p:sp>
        <p:nvSpPr>
          <p:cNvPr id="185" name="33至溢營造有限公司"/>
          <p:cNvSpPr txBox="1"/>
          <p:nvPr/>
        </p:nvSpPr>
        <p:spPr>
          <a:xfrm>
            <a:off x="288456" y="3879157"/>
            <a:ext cx="8086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33至溢營造有限公司</a:t>
            </a:r>
          </a:p>
        </p:txBody>
      </p:sp>
      <p:sp>
        <p:nvSpPr>
          <p:cNvPr id="186" name="37貽順…"/>
          <p:cNvSpPr txBox="1"/>
          <p:nvPr/>
        </p:nvSpPr>
        <p:spPr>
          <a:xfrm>
            <a:off x="7084335" y="2910077"/>
            <a:ext cx="419101" cy="306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37貽順</a:t>
            </a:r>
          </a:p>
          <a:p>
            <a:r>
              <a:t>有限公司</a:t>
            </a:r>
          </a:p>
        </p:txBody>
      </p:sp>
      <p:sp>
        <p:nvSpPr>
          <p:cNvPr id="187" name="38知寬植行"/>
          <p:cNvSpPr txBox="1"/>
          <p:nvPr/>
        </p:nvSpPr>
        <p:spPr>
          <a:xfrm>
            <a:off x="7463232" y="2987643"/>
            <a:ext cx="5038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38知寬植行</a:t>
            </a:r>
          </a:p>
        </p:txBody>
      </p:sp>
      <p:sp>
        <p:nvSpPr>
          <p:cNvPr id="188" name="39小熊零件行"/>
          <p:cNvSpPr txBox="1"/>
          <p:nvPr/>
        </p:nvSpPr>
        <p:spPr>
          <a:xfrm>
            <a:off x="4905603" y="3602837"/>
            <a:ext cx="5800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39小熊零件行</a:t>
            </a:r>
          </a:p>
        </p:txBody>
      </p:sp>
      <p:sp>
        <p:nvSpPr>
          <p:cNvPr id="189" name="40商贏企業"/>
          <p:cNvSpPr txBox="1"/>
          <p:nvPr/>
        </p:nvSpPr>
        <p:spPr>
          <a:xfrm>
            <a:off x="5322355" y="4009622"/>
            <a:ext cx="5038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40商贏企業</a:t>
            </a:r>
          </a:p>
        </p:txBody>
      </p:sp>
      <p:sp>
        <p:nvSpPr>
          <p:cNvPr id="190" name="41中盛建維有限公司"/>
          <p:cNvSpPr txBox="1"/>
          <p:nvPr/>
        </p:nvSpPr>
        <p:spPr>
          <a:xfrm>
            <a:off x="5593331" y="3675866"/>
            <a:ext cx="8086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41中盛建維有限公司</a:t>
            </a:r>
          </a:p>
        </p:txBody>
      </p:sp>
      <p:sp>
        <p:nvSpPr>
          <p:cNvPr id="191" name="42朱芸工作室"/>
          <p:cNvSpPr txBox="1"/>
          <p:nvPr/>
        </p:nvSpPr>
        <p:spPr>
          <a:xfrm>
            <a:off x="6201791" y="3558387"/>
            <a:ext cx="601219" cy="292101"/>
          </a:xfrm>
          <a:prstGeom prst="rect">
            <a:avLst/>
          </a:prstGeom>
          <a:ln w="12700">
            <a:miter lim="400000"/>
          </a:ln>
          <a:effectLst>
            <a:reflection stA="50000" endPos="40000" dir="5400000" sy="-100000" algn="bl" rotWithShape="0"/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42朱芸工作室 </a:t>
            </a:r>
          </a:p>
        </p:txBody>
      </p:sp>
      <p:graphicFrame>
        <p:nvGraphicFramePr>
          <p:cNvPr id="192" name="表格 1"/>
          <p:cNvGraphicFramePr/>
          <p:nvPr>
            <p:extLst>
              <p:ext uri="{D42A27DB-BD31-4B8C-83A1-F6EECF244321}">
                <p14:modId xmlns:p14="http://schemas.microsoft.com/office/powerpoint/2010/main" val="3788153633"/>
              </p:ext>
            </p:extLst>
          </p:nvPr>
        </p:nvGraphicFramePr>
        <p:xfrm>
          <a:off x="8258927" y="90111"/>
          <a:ext cx="4608973" cy="902096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430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9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08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609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1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廖佑泓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廖氏商行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31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邱鏡泉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泉佳鑫企業社
企業社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2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江怡霈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江小咪商行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32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陳羿綾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利奇商行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609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3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謝居助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洛酷科技有限公司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33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張皓暐
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至溢營造有限公司
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609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4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湯詠為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鑫秝喨國際有限公司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34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黃琬茹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萊益國際股份有限公司台中分公司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44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5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郭嘉玲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一貝兒美容工作室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35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郭氏花
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花芙辰寶國際行銷管理顧問有限公司
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6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劉怡婷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吉爾哈登工作室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36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劉姵君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明采文創工作室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7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莊湘婷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緁作工作室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37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郭靜萍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貽順有限公司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8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鍾孟迪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流星有限公司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38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林聖淮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知寬植行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9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卓家宇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晨甯水產行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39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王聖堯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小熊零件行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609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10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羅子翔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子昇有限公司
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40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黃奕穎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商贏企業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11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邱昱頵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優翼科技工程有限公司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41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林子堯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中盛建維有限公司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12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張文溥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季節東京媄睫專業坊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42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朱芸靜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朱芸工作室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2078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13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楊志偉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楊董企業社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43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00"/>
                        </a:lnSpc>
                        <a:defRPr sz="1800"/>
                      </a:pPr>
                      <a:r>
                        <a:rPr sz="600">
                          <a:sym typeface="PT Sans Caption"/>
                        </a:rPr>
                        <a:t>張軒銘</a:t>
                      </a:r>
                    </a:p>
                  </a:txBody>
                  <a:tcPr marL="50800" marR="50800" marT="50800" marB="5080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0"/>
                        </a:lnSpc>
                        <a:defRPr sz="1800"/>
                      </a:pPr>
                      <a:r>
                        <a:rPr sz="600">
                          <a:sym typeface="PT Sans Caption"/>
                        </a:rPr>
                        <a:t>竺墨文創企業社</a:t>
                      </a:r>
                    </a:p>
                  </a:txBody>
                  <a:tcPr marL="50800" marR="50800" marT="50800" marB="50800"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609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14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林鈺樺 
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程晧事業有限公司 
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44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00"/>
                        </a:lnSpc>
                        <a:defRPr sz="1800"/>
                      </a:pPr>
                      <a:r>
                        <a:rPr sz="600">
                          <a:sym typeface="PT Sans Caption"/>
                        </a:rPr>
                        <a:t>劉韋萱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0"/>
                        </a:lnSpc>
                        <a:defRPr sz="1800"/>
                      </a:pPr>
                      <a:r>
                        <a:rPr sz="600">
                          <a:sym typeface="PT Sans Caption"/>
                        </a:rPr>
                        <a:t>究鮮商行</a:t>
                      </a:r>
                    </a:p>
                  </a:txBody>
                  <a:tcPr marL="50800" marR="50800" marT="50800" marB="5080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15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李菊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昇瑪商行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45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廖裕雄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新大科技有限公司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16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曾采琳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機車俠機車行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46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湯詠為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新遞國際物流有限公司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17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林昭勲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兩兩空間製作所有限公司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47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顏依庭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福樂寵工作室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18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洪瑋辰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辰緻國際股份有限公司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48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陳為彤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由非室內裝修設計有限公司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0609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19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洪鐿慈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頌芝承工作室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49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林長佑
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農益富股份有限公司 
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20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陳苡端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立湟有限公司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50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高宏哲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原食工坊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21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陳佩伶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旭營興業有限公司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51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王維翊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帛珅有限公司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0609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22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600">
                          <a:sym typeface="PT Sans Caption"/>
                        </a:defRPr>
                      </a:pPr>
                      <a:r>
                        <a:rPr u="sng">
                          <a:hlinkClick r:id="rId3"/>
                        </a:rPr>
                        <a:t>陳俊吉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台灣心零售股份有限公司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52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黃啟能
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搖滾山姆有限公司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23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蔡淑華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超省購生活用品企業社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53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尤仁聖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樂沐金商行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24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陳明偉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明偉水產行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54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楊佩茹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鼎盛行銷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25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林可恬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隱士播放清單商店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55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李沛潔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微笑玩家國際貿易有限公司</a:t>
                      </a:r>
                    </a:p>
                  </a:txBody>
                  <a:tcPr marL="63500" marR="63500" marT="12700" marB="12700" horzOverflow="overflow">
                    <a:solidFill>
                      <a:schemeClr val="accent1">
                        <a:lumOff val="16847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26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謝孟廷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起床打單有限公司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56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管世勤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仁徠貿易股份有限公司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27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呂育豪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恩梯科技股份有限公司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57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陳進國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照鴻貿易股份有限公司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00609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28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洪曉樺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獨自紅有限公司
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58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 dirty="0" err="1">
                          <a:sym typeface="PT Sans Caption"/>
                        </a:rPr>
                        <a:t>邱麗潔</a:t>
                      </a:r>
                      <a:r>
                        <a:rPr sz="600" dirty="0">
                          <a:sym typeface="PT Sans Caption"/>
                        </a:rPr>
                        <a:t>
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日安家商行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29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鄭黃梅蘭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益群團購顧問有限公司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59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程永富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上永富科技股份有限公司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30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陳景泰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景泰批發實業社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60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王育祺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光緯企業社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61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湯詠為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華為秝喨國際有限公司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62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黃仲瑛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短腿基商舖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63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阮氏海厚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lnSpc>
                          <a:spcPts val="800"/>
                        </a:lnSpc>
                        <a:defRPr sz="1800"/>
                      </a:pPr>
                      <a:r>
                        <a:rPr sz="600">
                          <a:sym typeface="PT Sans Caption"/>
                        </a:rPr>
                        <a:t>金海小舖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64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楊儒俊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順映影像有限公司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65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黃千芸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植光圈友善坊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66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傅裕田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旺玖企業社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67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姚孟綺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鼠適圈工作室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68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陳卉珊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滿單有限公司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69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朱建勲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七分之二的探索有限公司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70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詹睿華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步臻有限公司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71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徐繼涵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范特希雅時光旅行小舖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72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楊鴻興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大心沉香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73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蒲世派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鎧將金屬開發有限公司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74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許典鈞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文瀛營造有限公司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75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廖昱軒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協通實業有限公司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76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林冠錞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天原興業有限公司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77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陳印泰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金如泰股份有限公司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78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李為承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好日來商行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200609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79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廬富粲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伯樂商行
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80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曾華田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宏川貿易有限公司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  <a:tr h="200609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81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黎文興
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興盛行銷管理顧問有限公司
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82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薛峻宇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富丞裕國際商行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40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83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蔡承恩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盛豐新流量商業社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84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魏珮妤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喂喂四聲喂工作室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41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85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林碩彥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磐星能源科技有限公司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86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李春蓉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承新文創有限公司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42"/>
                  </a:ext>
                </a:extLst>
              </a:tr>
              <a:tr h="200609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87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潘憲德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捌伍設計
</a:t>
                      </a:r>
                    </a:p>
                  </a:txBody>
                  <a:tcPr marL="63500" marR="63500" marT="12700" marB="12700" horzOverflow="overflow">
                    <a:solidFill>
                      <a:schemeClr val="accent1">
                        <a:lumOff val="1684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88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鄭凱謙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溪流雲創意整合有限公司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3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89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張伯任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智谷系統有限公司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90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陳品彣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顧寶藝工作室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44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91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張奉琦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仁琦科技有限公司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92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鄒采薇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浩萊國際企業社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45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93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張倩怡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小倩媽咪行銷工作室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94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蔡雅涵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四春企業社</a:t>
                      </a:r>
                    </a:p>
                  </a:txBody>
                  <a:tcPr marL="63500" marR="635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46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95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邱鈴雅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樸裕國際顧問有限公司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96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謝紹寧</a:t>
                      </a:r>
                    </a:p>
                  </a:txBody>
                  <a:tcPr marL="12700" marR="127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御林軍御藝美妝</a:t>
                      </a:r>
                    </a:p>
                  </a:txBody>
                  <a:tcPr marL="12700" marR="12700" marT="12700" marB="1270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7"/>
                  </a:ext>
                </a:extLst>
              </a:tr>
              <a:tr h="200609">
                <a:tc>
                  <a:txBody>
                    <a:bodyPr/>
                    <a:lstStyle/>
                    <a:p>
                      <a:pPr algn="r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97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0"/>
                        </a:lnSpc>
                        <a:defRPr sz="1800"/>
                      </a:pPr>
                      <a:r>
                        <a:rPr sz="600">
                          <a:sym typeface="PT Sans Caption"/>
                        </a:rPr>
                        <a:t>蔡馥詠</a:t>
                      </a:r>
                    </a:p>
                  </a:txBody>
                  <a:tcPr marL="50800" marR="50800" marT="50800" marB="508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"/>
                        </a:lnSpc>
                        <a:spcBef>
                          <a:spcPts val="200"/>
                        </a:spcBef>
                        <a:defRPr sz="1800"/>
                      </a:pPr>
                      <a:r>
                        <a:rPr sz="600">
                          <a:sym typeface="PT Sans Caption"/>
                        </a:rPr>
                        <a:t>馥諦健康事業有限公司</a:t>
                      </a:r>
                    </a:p>
                  </a:txBody>
                  <a:tcPr marL="50800" marR="50800" marT="50800" marB="508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98</a:t>
                      </a:r>
                    </a:p>
                  </a:txBody>
                  <a:tcPr marL="63500" marR="635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許翊軒</a:t>
                      </a:r>
                    </a:p>
                  </a:txBody>
                  <a:tcPr marL="12700" marR="12700" marT="12700" marB="1270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世燁環境清潔企業社
</a:t>
                      </a:r>
                    </a:p>
                  </a:txBody>
                  <a:tcPr marL="12700" marR="12700" marT="12700" marB="12700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 dirty="0">
                          <a:sym typeface="PT Sans Caption"/>
                        </a:rPr>
                        <a:t>99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 dirty="0" err="1">
                          <a:sym typeface="PT Sans Caption"/>
                        </a:rPr>
                        <a:t>謝昇諺</a:t>
                      </a:r>
                      <a:endParaRPr sz="600" dirty="0">
                        <a:sym typeface="PT Sans Caption"/>
                      </a:endParaRPr>
                    </a:p>
                  </a:txBody>
                  <a:tcPr marL="63500" marR="63500" marT="12700" marB="12700" horzOverflow="overflow">
                    <a:solidFill>
                      <a:schemeClr val="accent1">
                        <a:lumOff val="1684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 dirty="0" err="1">
                          <a:sym typeface="PT Sans Caption"/>
                        </a:rPr>
                        <a:t>和和國際有限公司</a:t>
                      </a:r>
                      <a:endParaRPr sz="600" dirty="0">
                        <a:sym typeface="PT Sans Caption"/>
                      </a:endParaRPr>
                    </a:p>
                  </a:txBody>
                  <a:tcPr marL="63500" marR="63500" marT="12700" marB="12700" horzOverflow="overflow">
                    <a:solidFill>
                      <a:schemeClr val="accent1">
                        <a:lumOff val="1684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 dirty="0">
                          <a:sym typeface="PT Sans Caption"/>
                        </a:rPr>
                        <a:t>100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 dirty="0" err="1">
                          <a:sym typeface="PT Sans Caption"/>
                        </a:rPr>
                        <a:t>林祥慶</a:t>
                      </a:r>
                      <a:r>
                        <a:rPr sz="600" dirty="0">
                          <a:sym typeface="PT Sans Caption"/>
                        </a:rPr>
                        <a:t> </a:t>
                      </a:r>
                    </a:p>
                  </a:txBody>
                  <a:tcPr marL="12700" marR="127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 dirty="0" err="1">
                          <a:sym typeface="PT Sans Caption"/>
                        </a:rPr>
                        <a:t>曜森生活工作室</a:t>
                      </a:r>
                      <a:endParaRPr sz="600" dirty="0">
                        <a:sym typeface="PT Sans Caption"/>
                      </a:endParaRPr>
                    </a:p>
                  </a:txBody>
                  <a:tcPr marL="12700" marR="127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49"/>
                  </a:ext>
                </a:extLst>
              </a:tr>
              <a:tr h="133495"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101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曾宥榆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川榆室所有限公司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102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林明宏</a:t>
                      </a:r>
                    </a:p>
                  </a:txBody>
                  <a:tcPr marL="12700" marR="127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小胖芭樂水果行</a:t>
                      </a:r>
                    </a:p>
                  </a:txBody>
                  <a:tcPr marL="12700" marR="12700" marT="12700" marB="12700" horzOverflow="overflow"/>
                </a:tc>
                <a:extLst>
                  <a:ext uri="{0D108BD9-81ED-4DB2-BD59-A6C34878D82A}">
                    <a16:rowId xmlns:a16="http://schemas.microsoft.com/office/drawing/2014/main" val="10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103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 dirty="0" err="1">
                          <a:sym typeface="PT Sans Caption"/>
                        </a:rPr>
                        <a:t>楊舒如</a:t>
                      </a:r>
                      <a:endParaRPr sz="600" dirty="0">
                        <a:sym typeface="PT Sans Caption"/>
                      </a:endParaRP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 dirty="0" err="1">
                          <a:sym typeface="PT Sans Caption"/>
                        </a:rPr>
                        <a:t>淬矩闢梯有限公司</a:t>
                      </a:r>
                      <a:r>
                        <a:rPr sz="600" dirty="0">
                          <a:sym typeface="PT Sans Caption"/>
                        </a:rPr>
                        <a:t> 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104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廖彩瑩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沃土謙植有限公司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51"/>
                  </a:ext>
                </a:extLst>
              </a:tr>
              <a:tr h="223864"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105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Sandra Boesiger 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艾瑟烘焙坊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106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600">
                          <a:sym typeface="PT Sans Caption"/>
                        </a:rPr>
                        <a:t>徐翊寧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球球歐瑞歐工作室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52"/>
                  </a:ext>
                </a:extLst>
              </a:tr>
              <a:tr h="155567">
                <a:tc>
                  <a:txBody>
                    <a:bodyPr/>
                    <a:lstStyle/>
                    <a:p>
                      <a:pPr algn="l" defTabSz="355600">
                        <a:defRPr sz="1800"/>
                      </a:pPr>
                      <a:r>
                        <a:rPr sz="600">
                          <a:sym typeface="PT Sans Caption"/>
                        </a:rPr>
                        <a:t>107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許淯珊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600">
                          <a:sym typeface="PT Sans Caption"/>
                        </a:rPr>
                        <a:t>弎弎審美在線工作室</a:t>
                      </a:r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600">
                          <a:sym typeface="PT Sans Caption"/>
                        </a:defRPr>
                      </a:pPr>
                      <a:endParaRPr/>
                    </a:p>
                  </a:txBody>
                  <a:tcPr marL="63500" marR="63500" marT="12700" marB="12700" horzOverflow="overflow"/>
                </a:tc>
                <a:tc>
                  <a:txBody>
                    <a:bodyPr/>
                    <a:lstStyle/>
                    <a:p>
                      <a:pPr algn="l">
                        <a:defRPr sz="600">
                          <a:sym typeface="PT Sans Caption"/>
                        </a:defRPr>
                      </a:pPr>
                      <a:endParaRPr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600">
                          <a:sym typeface="PT Sans Caption"/>
                        </a:defRPr>
                      </a:pPr>
                      <a:endParaRPr dirty="0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53"/>
                  </a:ext>
                </a:extLst>
              </a:tr>
            </a:tbl>
          </a:graphicData>
        </a:graphic>
      </p:graphicFrame>
      <p:sp>
        <p:nvSpPr>
          <p:cNvPr id="193" name="44究鮮商行"/>
          <p:cNvSpPr txBox="1"/>
          <p:nvPr/>
        </p:nvSpPr>
        <p:spPr>
          <a:xfrm>
            <a:off x="7041968" y="3671992"/>
            <a:ext cx="5038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44究鮮商行</a:t>
            </a:r>
          </a:p>
        </p:txBody>
      </p:sp>
      <p:sp>
        <p:nvSpPr>
          <p:cNvPr id="194" name="45新大科技有限公司"/>
          <p:cNvSpPr txBox="1"/>
          <p:nvPr/>
        </p:nvSpPr>
        <p:spPr>
          <a:xfrm>
            <a:off x="7234632" y="4081850"/>
            <a:ext cx="8086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45新大科技有限公司</a:t>
            </a:r>
          </a:p>
        </p:txBody>
      </p:sp>
      <p:sp>
        <p:nvSpPr>
          <p:cNvPr id="195" name="46新遞國際物流有限公司"/>
          <p:cNvSpPr txBox="1"/>
          <p:nvPr/>
        </p:nvSpPr>
        <p:spPr>
          <a:xfrm>
            <a:off x="2438221" y="3273279"/>
            <a:ext cx="961035" cy="188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46</a:t>
            </a:r>
            <a:r>
              <a:rPr>
                <a:latin typeface="標楷體"/>
                <a:ea typeface="標楷體"/>
                <a:cs typeface="標楷體"/>
                <a:sym typeface="標楷體"/>
              </a:rPr>
              <a:t>新遞國際物流有限公司</a:t>
            </a:r>
          </a:p>
        </p:txBody>
      </p:sp>
      <p:sp>
        <p:nvSpPr>
          <p:cNvPr id="196" name="47福樂寵工作室"/>
          <p:cNvSpPr txBox="1"/>
          <p:nvPr/>
        </p:nvSpPr>
        <p:spPr>
          <a:xfrm>
            <a:off x="2438221" y="2920194"/>
            <a:ext cx="656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47福樂寵工作室</a:t>
            </a:r>
          </a:p>
        </p:txBody>
      </p:sp>
      <p:sp>
        <p:nvSpPr>
          <p:cNvPr id="197" name="48由非室內裝修設計有限公司"/>
          <p:cNvSpPr txBox="1"/>
          <p:nvPr/>
        </p:nvSpPr>
        <p:spPr>
          <a:xfrm>
            <a:off x="2362021" y="2572213"/>
            <a:ext cx="11134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48由非室內裝修設計有限公司</a:t>
            </a:r>
          </a:p>
        </p:txBody>
      </p:sp>
      <p:sp>
        <p:nvSpPr>
          <p:cNvPr id="198" name="35花芙辰寶國際行銷管理顧問有限公司"/>
          <p:cNvSpPr txBox="1"/>
          <p:nvPr/>
        </p:nvSpPr>
        <p:spPr>
          <a:xfrm>
            <a:off x="6133305" y="2906910"/>
            <a:ext cx="503835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35花芙辰寶國際行銷管理顧問有限公司</a:t>
            </a:r>
          </a:p>
        </p:txBody>
      </p:sp>
      <p:sp>
        <p:nvSpPr>
          <p:cNvPr id="199" name="36明采文創工作室"/>
          <p:cNvSpPr txBox="1"/>
          <p:nvPr/>
        </p:nvSpPr>
        <p:spPr>
          <a:xfrm>
            <a:off x="6579275" y="2880825"/>
            <a:ext cx="503835" cy="306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36明采文創工作室</a:t>
            </a:r>
          </a:p>
        </p:txBody>
      </p:sp>
      <p:sp>
        <p:nvSpPr>
          <p:cNvPr id="200" name="49農益富股份有限公司"/>
          <p:cNvSpPr txBox="1"/>
          <p:nvPr/>
        </p:nvSpPr>
        <p:spPr>
          <a:xfrm>
            <a:off x="2389529" y="2283668"/>
            <a:ext cx="90601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49農益富股份有限公司 </a:t>
            </a:r>
          </a:p>
        </p:txBody>
      </p:sp>
      <p:sp>
        <p:nvSpPr>
          <p:cNvPr id="201" name="50原食工坊"/>
          <p:cNvSpPr txBox="1"/>
          <p:nvPr/>
        </p:nvSpPr>
        <p:spPr>
          <a:xfrm>
            <a:off x="2666821" y="2055709"/>
            <a:ext cx="5038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50原食工坊</a:t>
            </a:r>
          </a:p>
        </p:txBody>
      </p:sp>
      <p:sp>
        <p:nvSpPr>
          <p:cNvPr id="202" name="51帛珅有限公司"/>
          <p:cNvSpPr txBox="1"/>
          <p:nvPr/>
        </p:nvSpPr>
        <p:spPr>
          <a:xfrm>
            <a:off x="3071163" y="1783307"/>
            <a:ext cx="656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51帛珅有限公司</a:t>
            </a:r>
          </a:p>
        </p:txBody>
      </p:sp>
      <p:sp>
        <p:nvSpPr>
          <p:cNvPr id="203" name="52搖滾山姆有限公司"/>
          <p:cNvSpPr txBox="1"/>
          <p:nvPr/>
        </p:nvSpPr>
        <p:spPr>
          <a:xfrm>
            <a:off x="3490024" y="2226927"/>
            <a:ext cx="8086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52搖滾山姆有限公司</a:t>
            </a:r>
          </a:p>
        </p:txBody>
      </p:sp>
      <p:pic>
        <p:nvPicPr>
          <p:cNvPr id="204" name="截圖 2022-09-06 上午9.54.25.png" descr="截圖 2022-09-06 上午9.54.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897" y="1945128"/>
            <a:ext cx="316236" cy="306935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53樂沐金商行"/>
          <p:cNvSpPr txBox="1"/>
          <p:nvPr/>
        </p:nvSpPr>
        <p:spPr>
          <a:xfrm>
            <a:off x="3690937" y="2549772"/>
            <a:ext cx="5800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53樂沐金商行</a:t>
            </a:r>
          </a:p>
        </p:txBody>
      </p:sp>
      <p:sp>
        <p:nvSpPr>
          <p:cNvPr id="206" name="54鼎盛行銷"/>
          <p:cNvSpPr txBox="1"/>
          <p:nvPr/>
        </p:nvSpPr>
        <p:spPr>
          <a:xfrm>
            <a:off x="3642424" y="2876906"/>
            <a:ext cx="5038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54鼎盛行銷</a:t>
            </a:r>
          </a:p>
        </p:txBody>
      </p:sp>
      <p:sp>
        <p:nvSpPr>
          <p:cNvPr id="207" name="55微笑玩家國際貿易有限公司"/>
          <p:cNvSpPr txBox="1"/>
          <p:nvPr/>
        </p:nvSpPr>
        <p:spPr>
          <a:xfrm>
            <a:off x="3030545" y="3089243"/>
            <a:ext cx="11134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55微笑玩家國際貿易有限公司</a:t>
            </a:r>
          </a:p>
        </p:txBody>
      </p:sp>
      <p:sp>
        <p:nvSpPr>
          <p:cNvPr id="208" name="56仁徠貿易股份…"/>
          <p:cNvSpPr txBox="1"/>
          <p:nvPr/>
        </p:nvSpPr>
        <p:spPr>
          <a:xfrm>
            <a:off x="3652897" y="1676415"/>
            <a:ext cx="656236" cy="306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56仁徠貿易股份</a:t>
            </a:r>
          </a:p>
          <a:p>
            <a:r>
              <a:t>有限公司</a:t>
            </a:r>
          </a:p>
        </p:txBody>
      </p:sp>
      <p:sp>
        <p:nvSpPr>
          <p:cNvPr id="209" name="57照鴻貿易股份…"/>
          <p:cNvSpPr txBox="1"/>
          <p:nvPr/>
        </p:nvSpPr>
        <p:spPr>
          <a:xfrm>
            <a:off x="1400721" y="843852"/>
            <a:ext cx="656235" cy="306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57照鴻貿易股份</a:t>
            </a:r>
          </a:p>
          <a:p>
            <a:r>
              <a:t>有限公司</a:t>
            </a:r>
          </a:p>
        </p:txBody>
      </p:sp>
      <p:sp>
        <p:nvSpPr>
          <p:cNvPr id="210" name="58日安家商行"/>
          <p:cNvSpPr txBox="1"/>
          <p:nvPr/>
        </p:nvSpPr>
        <p:spPr>
          <a:xfrm>
            <a:off x="2059713" y="843243"/>
            <a:ext cx="656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58日安家商行</a:t>
            </a:r>
          </a:p>
        </p:txBody>
      </p:sp>
      <p:sp>
        <p:nvSpPr>
          <p:cNvPr id="211" name="59上永富科技股份有限公司"/>
          <p:cNvSpPr txBox="1"/>
          <p:nvPr/>
        </p:nvSpPr>
        <p:spPr>
          <a:xfrm>
            <a:off x="2590621" y="1139664"/>
            <a:ext cx="656235" cy="306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59上永富科技股份有限公司</a:t>
            </a:r>
          </a:p>
        </p:txBody>
      </p:sp>
      <p:sp>
        <p:nvSpPr>
          <p:cNvPr id="212" name="60光緯企業社"/>
          <p:cNvSpPr txBox="1"/>
          <p:nvPr/>
        </p:nvSpPr>
        <p:spPr>
          <a:xfrm>
            <a:off x="907155" y="443698"/>
            <a:ext cx="656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60光緯企業社</a:t>
            </a:r>
          </a:p>
        </p:txBody>
      </p:sp>
      <p:sp>
        <p:nvSpPr>
          <p:cNvPr id="213" name="61華為秝喨國際有限公司"/>
          <p:cNvSpPr txBox="1"/>
          <p:nvPr/>
        </p:nvSpPr>
        <p:spPr>
          <a:xfrm>
            <a:off x="1487042" y="391831"/>
            <a:ext cx="656235" cy="306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61華為秝喨國際有限公司</a:t>
            </a:r>
          </a:p>
        </p:txBody>
      </p:sp>
      <p:sp>
        <p:nvSpPr>
          <p:cNvPr id="214" name="62短腿基商舖"/>
          <p:cNvSpPr txBox="1"/>
          <p:nvPr/>
        </p:nvSpPr>
        <p:spPr>
          <a:xfrm>
            <a:off x="2438221" y="443698"/>
            <a:ext cx="656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62短腿基商舖</a:t>
            </a:r>
          </a:p>
        </p:txBody>
      </p:sp>
      <p:sp>
        <p:nvSpPr>
          <p:cNvPr id="215" name="63金海小舖"/>
          <p:cNvSpPr txBox="1"/>
          <p:nvPr/>
        </p:nvSpPr>
        <p:spPr>
          <a:xfrm>
            <a:off x="4462147" y="1478121"/>
            <a:ext cx="656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63金海小舖</a:t>
            </a:r>
          </a:p>
        </p:txBody>
      </p:sp>
      <p:sp>
        <p:nvSpPr>
          <p:cNvPr id="216" name="64順映影像有限公司"/>
          <p:cNvSpPr txBox="1"/>
          <p:nvPr/>
        </p:nvSpPr>
        <p:spPr>
          <a:xfrm>
            <a:off x="4912626" y="1883797"/>
            <a:ext cx="656235" cy="306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64順映影像有限公司</a:t>
            </a:r>
          </a:p>
        </p:txBody>
      </p:sp>
      <p:sp>
        <p:nvSpPr>
          <p:cNvPr id="217" name="65植光圈友善坊"/>
          <p:cNvSpPr txBox="1"/>
          <p:nvPr/>
        </p:nvSpPr>
        <p:spPr>
          <a:xfrm>
            <a:off x="5319492" y="1478121"/>
            <a:ext cx="656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65植光圈友善坊</a:t>
            </a:r>
          </a:p>
        </p:txBody>
      </p:sp>
      <p:sp>
        <p:nvSpPr>
          <p:cNvPr id="218" name="66旺玖企業社"/>
          <p:cNvSpPr txBox="1"/>
          <p:nvPr/>
        </p:nvSpPr>
        <p:spPr>
          <a:xfrm>
            <a:off x="5711778" y="1884907"/>
            <a:ext cx="656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66旺玖企業社</a:t>
            </a:r>
          </a:p>
        </p:txBody>
      </p:sp>
      <p:sp>
        <p:nvSpPr>
          <p:cNvPr id="219" name="67鼠適圈工作室"/>
          <p:cNvSpPr txBox="1"/>
          <p:nvPr/>
        </p:nvSpPr>
        <p:spPr>
          <a:xfrm>
            <a:off x="6172232" y="1539243"/>
            <a:ext cx="656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67鼠適圈工作室</a:t>
            </a:r>
          </a:p>
        </p:txBody>
      </p:sp>
      <p:sp>
        <p:nvSpPr>
          <p:cNvPr id="220" name="68滿單有限公司"/>
          <p:cNvSpPr txBox="1"/>
          <p:nvPr/>
        </p:nvSpPr>
        <p:spPr>
          <a:xfrm>
            <a:off x="7310832" y="1871148"/>
            <a:ext cx="656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68滿單有限公司</a:t>
            </a:r>
          </a:p>
        </p:txBody>
      </p:sp>
      <p:sp>
        <p:nvSpPr>
          <p:cNvPr id="221" name="69七分之二的探索有限公司"/>
          <p:cNvSpPr txBox="1"/>
          <p:nvPr/>
        </p:nvSpPr>
        <p:spPr>
          <a:xfrm>
            <a:off x="4912626" y="2196154"/>
            <a:ext cx="656235" cy="306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69七分之二的探索有限公司</a:t>
            </a:r>
          </a:p>
        </p:txBody>
      </p:sp>
      <p:sp>
        <p:nvSpPr>
          <p:cNvPr id="222" name="43竺墨文創企業社"/>
          <p:cNvSpPr txBox="1"/>
          <p:nvPr/>
        </p:nvSpPr>
        <p:spPr>
          <a:xfrm>
            <a:off x="6464975" y="4069288"/>
            <a:ext cx="7324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43竺墨文創企業社</a:t>
            </a:r>
          </a:p>
        </p:txBody>
      </p:sp>
      <p:sp>
        <p:nvSpPr>
          <p:cNvPr id="223" name="70步臻有限公司"/>
          <p:cNvSpPr txBox="1"/>
          <p:nvPr/>
        </p:nvSpPr>
        <p:spPr>
          <a:xfrm>
            <a:off x="5246155" y="2657558"/>
            <a:ext cx="656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70步臻有限公司</a:t>
            </a:r>
          </a:p>
        </p:txBody>
      </p:sp>
      <p:sp>
        <p:nvSpPr>
          <p:cNvPr id="224" name="72大心沉香"/>
          <p:cNvSpPr txBox="1"/>
          <p:nvPr/>
        </p:nvSpPr>
        <p:spPr>
          <a:xfrm>
            <a:off x="6032143" y="2669970"/>
            <a:ext cx="656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72大心沉香</a:t>
            </a:r>
          </a:p>
        </p:txBody>
      </p:sp>
      <p:sp>
        <p:nvSpPr>
          <p:cNvPr id="225" name="73鎧將金屬開發有限公司"/>
          <p:cNvSpPr txBox="1"/>
          <p:nvPr/>
        </p:nvSpPr>
        <p:spPr>
          <a:xfrm>
            <a:off x="6426875" y="2231801"/>
            <a:ext cx="656235" cy="306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73鎧將金屬開發有限公司</a:t>
            </a:r>
          </a:p>
        </p:txBody>
      </p:sp>
      <p:sp>
        <p:nvSpPr>
          <p:cNvPr id="226" name="74 文瀛營造有限公司"/>
          <p:cNvSpPr txBox="1"/>
          <p:nvPr/>
        </p:nvSpPr>
        <p:spPr>
          <a:xfrm>
            <a:off x="6803723" y="2657558"/>
            <a:ext cx="656235" cy="306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74 文瀛營造有限公司</a:t>
            </a:r>
          </a:p>
        </p:txBody>
      </p:sp>
      <p:sp>
        <p:nvSpPr>
          <p:cNvPr id="227" name="75協通實業有限公司"/>
          <p:cNvSpPr txBox="1"/>
          <p:nvPr/>
        </p:nvSpPr>
        <p:spPr>
          <a:xfrm>
            <a:off x="7272911" y="2175061"/>
            <a:ext cx="656236" cy="306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75協通實業有限公司</a:t>
            </a:r>
          </a:p>
        </p:txBody>
      </p:sp>
      <p:sp>
        <p:nvSpPr>
          <p:cNvPr id="228" name="76 天原興業有限公司"/>
          <p:cNvSpPr txBox="1"/>
          <p:nvPr/>
        </p:nvSpPr>
        <p:spPr>
          <a:xfrm>
            <a:off x="6751439" y="6005526"/>
            <a:ext cx="656236" cy="306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76 天原興業有限公司</a:t>
            </a:r>
          </a:p>
        </p:txBody>
      </p:sp>
      <p:sp>
        <p:nvSpPr>
          <p:cNvPr id="229" name="77金如泰股份有限公司"/>
          <p:cNvSpPr txBox="1"/>
          <p:nvPr/>
        </p:nvSpPr>
        <p:spPr>
          <a:xfrm>
            <a:off x="5246155" y="4652536"/>
            <a:ext cx="656235" cy="306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77金如泰股份有限公司</a:t>
            </a:r>
          </a:p>
        </p:txBody>
      </p:sp>
      <p:sp>
        <p:nvSpPr>
          <p:cNvPr id="230" name="78好日來商行"/>
          <p:cNvSpPr txBox="1"/>
          <p:nvPr/>
        </p:nvSpPr>
        <p:spPr>
          <a:xfrm>
            <a:off x="5804178" y="4704403"/>
            <a:ext cx="6562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78好日來商行</a:t>
            </a:r>
          </a:p>
        </p:txBody>
      </p:sp>
      <p:sp>
        <p:nvSpPr>
          <p:cNvPr id="231" name="79伯樂商行"/>
          <p:cNvSpPr txBox="1"/>
          <p:nvPr/>
        </p:nvSpPr>
        <p:spPr>
          <a:xfrm>
            <a:off x="6342355" y="4723934"/>
            <a:ext cx="656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79伯樂商行</a:t>
            </a:r>
          </a:p>
        </p:txBody>
      </p:sp>
      <p:sp>
        <p:nvSpPr>
          <p:cNvPr id="232" name="80宏川貿易有限公司"/>
          <p:cNvSpPr txBox="1"/>
          <p:nvPr/>
        </p:nvSpPr>
        <p:spPr>
          <a:xfrm>
            <a:off x="7269235" y="4672068"/>
            <a:ext cx="8086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80宏川貿易有限公司</a:t>
            </a:r>
          </a:p>
        </p:txBody>
      </p:sp>
      <p:sp>
        <p:nvSpPr>
          <p:cNvPr id="233" name="81興盛行銷管理顧問有限公司"/>
          <p:cNvSpPr txBox="1"/>
          <p:nvPr/>
        </p:nvSpPr>
        <p:spPr>
          <a:xfrm>
            <a:off x="4880657" y="5140345"/>
            <a:ext cx="11134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81興盛行銷管理顧問有限公司</a:t>
            </a:r>
          </a:p>
        </p:txBody>
      </p:sp>
      <p:sp>
        <p:nvSpPr>
          <p:cNvPr id="234" name="82富丞裕國際商行"/>
          <p:cNvSpPr txBox="1"/>
          <p:nvPr/>
        </p:nvSpPr>
        <p:spPr>
          <a:xfrm>
            <a:off x="5348933" y="5466826"/>
            <a:ext cx="7324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82富丞裕國際商行</a:t>
            </a:r>
          </a:p>
        </p:txBody>
      </p:sp>
      <p:sp>
        <p:nvSpPr>
          <p:cNvPr id="235" name="71范特希雅時光旅行小舖"/>
          <p:cNvSpPr txBox="1"/>
          <p:nvPr/>
        </p:nvSpPr>
        <p:spPr>
          <a:xfrm>
            <a:off x="5589179" y="2175061"/>
            <a:ext cx="656236" cy="306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71范特希雅時光旅行小舖</a:t>
            </a:r>
          </a:p>
        </p:txBody>
      </p:sp>
      <p:sp>
        <p:nvSpPr>
          <p:cNvPr id="236" name="83盛豐新流量商業社"/>
          <p:cNvSpPr txBox="1"/>
          <p:nvPr/>
        </p:nvSpPr>
        <p:spPr>
          <a:xfrm>
            <a:off x="5837725" y="5157142"/>
            <a:ext cx="8086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83盛豐新流量商業社</a:t>
            </a:r>
          </a:p>
        </p:txBody>
      </p:sp>
      <p:sp>
        <p:nvSpPr>
          <p:cNvPr id="237" name="84喂喂四聲喂工作室"/>
          <p:cNvSpPr txBox="1"/>
          <p:nvPr/>
        </p:nvSpPr>
        <p:spPr>
          <a:xfrm>
            <a:off x="6266155" y="5424104"/>
            <a:ext cx="8086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84喂喂四聲喂工作室</a:t>
            </a:r>
          </a:p>
        </p:txBody>
      </p:sp>
      <p:sp>
        <p:nvSpPr>
          <p:cNvPr id="238" name="85磐星能源科技有限公司"/>
          <p:cNvSpPr txBox="1"/>
          <p:nvPr/>
        </p:nvSpPr>
        <p:spPr>
          <a:xfrm>
            <a:off x="6574900" y="5157142"/>
            <a:ext cx="9610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85磐星能源科技有限公司</a:t>
            </a:r>
          </a:p>
        </p:txBody>
      </p:sp>
      <p:sp>
        <p:nvSpPr>
          <p:cNvPr id="239" name="86承新文創有限公司"/>
          <p:cNvSpPr txBox="1"/>
          <p:nvPr/>
        </p:nvSpPr>
        <p:spPr>
          <a:xfrm>
            <a:off x="4950726" y="6112229"/>
            <a:ext cx="8086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86承新文創有限公司</a:t>
            </a:r>
          </a:p>
        </p:txBody>
      </p:sp>
      <p:sp>
        <p:nvSpPr>
          <p:cNvPr id="240" name="87捌伍設計"/>
          <p:cNvSpPr txBox="1"/>
          <p:nvPr/>
        </p:nvSpPr>
        <p:spPr>
          <a:xfrm>
            <a:off x="5488825" y="5723489"/>
            <a:ext cx="5038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87捌伍設計</a:t>
            </a:r>
          </a:p>
        </p:txBody>
      </p:sp>
      <p:sp>
        <p:nvSpPr>
          <p:cNvPr id="241" name="88溪流雲創意整合有限公司"/>
          <p:cNvSpPr txBox="1"/>
          <p:nvPr/>
        </p:nvSpPr>
        <p:spPr>
          <a:xfrm>
            <a:off x="5695682" y="6112229"/>
            <a:ext cx="10372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88溪流雲創意整合有限公司</a:t>
            </a:r>
          </a:p>
        </p:txBody>
      </p:sp>
      <p:sp>
        <p:nvSpPr>
          <p:cNvPr id="242" name="89智谷系統有限公司"/>
          <p:cNvSpPr txBox="1"/>
          <p:nvPr/>
        </p:nvSpPr>
        <p:spPr>
          <a:xfrm>
            <a:off x="6266155" y="5692591"/>
            <a:ext cx="8086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89智谷系統有限公司</a:t>
            </a:r>
          </a:p>
        </p:txBody>
      </p:sp>
      <p:sp>
        <p:nvSpPr>
          <p:cNvPr id="243" name="90顧寶藝工作室"/>
          <p:cNvSpPr txBox="1"/>
          <p:nvPr/>
        </p:nvSpPr>
        <p:spPr>
          <a:xfrm>
            <a:off x="5412625" y="6804479"/>
            <a:ext cx="6562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90顧寶藝工作室</a:t>
            </a:r>
          </a:p>
        </p:txBody>
      </p:sp>
      <p:sp>
        <p:nvSpPr>
          <p:cNvPr id="244" name="91仁琦科技有限公司"/>
          <p:cNvSpPr txBox="1"/>
          <p:nvPr/>
        </p:nvSpPr>
        <p:spPr>
          <a:xfrm>
            <a:off x="5767915" y="6414517"/>
            <a:ext cx="8086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91仁琦科技有限公司</a:t>
            </a:r>
          </a:p>
        </p:txBody>
      </p:sp>
      <p:sp>
        <p:nvSpPr>
          <p:cNvPr id="245" name="92浩萊國際企業社"/>
          <p:cNvSpPr txBox="1"/>
          <p:nvPr/>
        </p:nvSpPr>
        <p:spPr>
          <a:xfrm>
            <a:off x="6136182" y="6741797"/>
            <a:ext cx="7324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92浩萊國際企業社</a:t>
            </a:r>
          </a:p>
        </p:txBody>
      </p:sp>
      <p:sp>
        <p:nvSpPr>
          <p:cNvPr id="246" name="93小倩媽咪行銷工作室"/>
          <p:cNvSpPr txBox="1"/>
          <p:nvPr/>
        </p:nvSpPr>
        <p:spPr>
          <a:xfrm>
            <a:off x="6637139" y="6422149"/>
            <a:ext cx="8848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93小倩媽咪行銷工作室</a:t>
            </a:r>
          </a:p>
        </p:txBody>
      </p:sp>
      <p:sp>
        <p:nvSpPr>
          <p:cNvPr id="247" name="94四春企業社"/>
          <p:cNvSpPr txBox="1"/>
          <p:nvPr/>
        </p:nvSpPr>
        <p:spPr>
          <a:xfrm>
            <a:off x="5467440" y="7361975"/>
            <a:ext cx="5800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94四春企業社</a:t>
            </a:r>
          </a:p>
        </p:txBody>
      </p:sp>
      <p:sp>
        <p:nvSpPr>
          <p:cNvPr id="248" name="95樸裕國際顧問有限公司"/>
          <p:cNvSpPr txBox="1"/>
          <p:nvPr/>
        </p:nvSpPr>
        <p:spPr>
          <a:xfrm>
            <a:off x="5670282" y="7012738"/>
            <a:ext cx="9610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95樸裕國際顧問有限公司</a:t>
            </a:r>
          </a:p>
        </p:txBody>
      </p:sp>
      <p:sp>
        <p:nvSpPr>
          <p:cNvPr id="249" name="96御林軍御藝美妝"/>
          <p:cNvSpPr txBox="1"/>
          <p:nvPr/>
        </p:nvSpPr>
        <p:spPr>
          <a:xfrm>
            <a:off x="6284060" y="7356064"/>
            <a:ext cx="7324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96御林軍御藝美妝</a:t>
            </a:r>
          </a:p>
        </p:txBody>
      </p:sp>
      <p:sp>
        <p:nvSpPr>
          <p:cNvPr id="250" name="97馥諦健康事業有限公司"/>
          <p:cNvSpPr txBox="1"/>
          <p:nvPr/>
        </p:nvSpPr>
        <p:spPr>
          <a:xfrm>
            <a:off x="6531630" y="6955742"/>
            <a:ext cx="96103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97馥諦健康事業有限公司</a:t>
            </a:r>
          </a:p>
        </p:txBody>
      </p:sp>
      <p:sp>
        <p:nvSpPr>
          <p:cNvPr id="251" name="98世燁環境清潔企業社"/>
          <p:cNvSpPr txBox="1"/>
          <p:nvPr/>
        </p:nvSpPr>
        <p:spPr>
          <a:xfrm>
            <a:off x="4626868" y="7796521"/>
            <a:ext cx="90601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98世燁環境清潔企業社 </a:t>
            </a:r>
          </a:p>
        </p:txBody>
      </p:sp>
      <p:sp>
        <p:nvSpPr>
          <p:cNvPr id="252" name="99和和國際有限公司"/>
          <p:cNvSpPr txBox="1"/>
          <p:nvPr/>
        </p:nvSpPr>
        <p:spPr>
          <a:xfrm>
            <a:off x="5243292" y="8148716"/>
            <a:ext cx="8086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99和和國際有限公司</a:t>
            </a:r>
          </a:p>
        </p:txBody>
      </p:sp>
      <p:sp>
        <p:nvSpPr>
          <p:cNvPr id="253" name="100曜森生活工作室"/>
          <p:cNvSpPr txBox="1"/>
          <p:nvPr/>
        </p:nvSpPr>
        <p:spPr>
          <a:xfrm>
            <a:off x="5641903" y="7711937"/>
            <a:ext cx="79598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100曜森生活工作室 </a:t>
            </a:r>
          </a:p>
        </p:txBody>
      </p:sp>
      <p:sp>
        <p:nvSpPr>
          <p:cNvPr id="254" name="101川榆室所有限公司"/>
          <p:cNvSpPr txBox="1"/>
          <p:nvPr/>
        </p:nvSpPr>
        <p:spPr>
          <a:xfrm>
            <a:off x="6066307" y="8118324"/>
            <a:ext cx="87218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101川榆室所有限公司 </a:t>
            </a:r>
          </a:p>
          <a:p>
            <a:r>
              <a:t> </a:t>
            </a:r>
          </a:p>
        </p:txBody>
      </p:sp>
      <p:sp>
        <p:nvSpPr>
          <p:cNvPr id="255" name="103淬矩闢梯有限公司"/>
          <p:cNvSpPr txBox="1"/>
          <p:nvPr/>
        </p:nvSpPr>
        <p:spPr>
          <a:xfrm>
            <a:off x="6405691" y="7797484"/>
            <a:ext cx="85100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103淬矩闢梯有限公司</a:t>
            </a:r>
          </a:p>
        </p:txBody>
      </p:sp>
      <p:sp>
        <p:nvSpPr>
          <p:cNvPr id="256" name="102小胖芭樂水果行"/>
          <p:cNvSpPr txBox="1"/>
          <p:nvPr/>
        </p:nvSpPr>
        <p:spPr>
          <a:xfrm>
            <a:off x="-18230" y="3546576"/>
            <a:ext cx="77480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102小胖芭樂水果行</a:t>
            </a:r>
          </a:p>
        </p:txBody>
      </p:sp>
      <p:sp>
        <p:nvSpPr>
          <p:cNvPr id="257" name="104沃土謙植有限公司"/>
          <p:cNvSpPr txBox="1"/>
          <p:nvPr/>
        </p:nvSpPr>
        <p:spPr>
          <a:xfrm>
            <a:off x="70422" y="3089243"/>
            <a:ext cx="85100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104沃土謙植有限公司</a:t>
            </a:r>
          </a:p>
        </p:txBody>
      </p:sp>
      <p:sp>
        <p:nvSpPr>
          <p:cNvPr id="258" name="105艾瑟烘焙坊"/>
          <p:cNvSpPr txBox="1"/>
          <p:nvPr/>
        </p:nvSpPr>
        <p:spPr>
          <a:xfrm>
            <a:off x="-94678" y="2876906"/>
            <a:ext cx="62240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105艾瑟烘焙坊</a:t>
            </a:r>
          </a:p>
        </p:txBody>
      </p:sp>
      <p:sp>
        <p:nvSpPr>
          <p:cNvPr id="259" name="106球球歐瑞歐工作室"/>
          <p:cNvSpPr txBox="1"/>
          <p:nvPr/>
        </p:nvSpPr>
        <p:spPr>
          <a:xfrm>
            <a:off x="1389658" y="3735385"/>
            <a:ext cx="85100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106球球歐瑞歐工作室</a:t>
            </a:r>
          </a:p>
        </p:txBody>
      </p:sp>
      <p:sp>
        <p:nvSpPr>
          <p:cNvPr id="260" name="107弎弎審美在線工作室"/>
          <p:cNvSpPr txBox="1"/>
          <p:nvPr/>
        </p:nvSpPr>
        <p:spPr>
          <a:xfrm>
            <a:off x="1351558" y="4393164"/>
            <a:ext cx="92720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107弎弎審美在線工作室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</Words>
  <Application>Microsoft Macintosh PowerPoint</Application>
  <PresentationFormat>自訂</PresentationFormat>
  <Paragraphs>436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標楷體</vt:lpstr>
      <vt:lpstr>Helvetica</vt:lpstr>
      <vt:lpstr>Helvetica Neue</vt:lpstr>
      <vt:lpstr>Helvetica Neue Medium</vt:lpstr>
      <vt:lpstr>PT Sans Caption</vt:lpstr>
      <vt:lpstr>21_BasicWhite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豪廷 戴</cp:lastModifiedBy>
  <cp:revision>1</cp:revision>
  <dcterms:modified xsi:type="dcterms:W3CDTF">2025-12-16T03:28:13Z</dcterms:modified>
</cp:coreProperties>
</file>